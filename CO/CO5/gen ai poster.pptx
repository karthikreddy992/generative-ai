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665" y="-47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73152"/>
            <a:ext cx="7196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E1E"/>
                </a:solidFill>
                <a:latin typeface="Times New Roman"/>
              </a:rPr>
              <a:t>SIMATS ENGINEERING (SAVEETHA SCHOOL OF ENGINEERING)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320040"/>
            <a:ext cx="7196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21207"/>
            <a:ext cx="7287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  <a:latin typeface="Times New Roman"/>
              </a:rPr>
              <a:t>Hallucination Detection and Mitigation in 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7196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E1E1E"/>
                </a:solidFill>
                <a:latin typeface="Times New Roman"/>
              </a:rPr>
              <a:t>Question 30 | Generative AI and Large Scale Models | CO5 – BL-5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234440"/>
            <a:ext cx="1600200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618488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1E1E"/>
                </a:solidFill>
                <a:latin typeface="Times New Roman"/>
              </a:rPr>
              <a:t>Large Language Models (LLMs) can generate useful natural-language responses, but may sometimes produce incorrect, unsupported, or fabricated information called hallucinations.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" y="2103120"/>
            <a:ext cx="1874519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487168"/>
            <a:ext cx="7040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Times New Roman"/>
              </a:rPr>
              <a:t>• LLMs may generate factually incorrect information.
• Hallucinated responses can reduce user trust and system reliability.
• Reliable methods are required to detect, verify, and mitigate incorrect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3136392"/>
            <a:ext cx="2057400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LLM TECHNOLOGY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5204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1E1E1E"/>
                </a:solidFill>
                <a:latin typeface="Times New Roman"/>
              </a:rPr>
              <a:t>LLMs are transformer-based models trained on large text datasets. They generate responses by predicting suitable sequences of text, but outputs may lack factual grounding.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4096512"/>
            <a:ext cx="1965960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ARCHITECTURE /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" y="4553712"/>
            <a:ext cx="1234440" cy="713232"/>
          </a:xfrm>
          <a:prstGeom prst="round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rgbClr val="FF0000"/>
                </a:solidFill>
                <a:latin typeface="Times New Roman"/>
              </a:rPr>
              <a:t>1. USER INPUT</a:t>
            </a:r>
          </a:p>
          <a:p>
            <a:pPr algn="ctr"/>
            <a:r>
              <a:rPr sz="650" dirty="0">
                <a:solidFill>
                  <a:srgbClr val="FF0000"/>
                </a:solidFill>
                <a:latin typeface="Times New Roman"/>
              </a:rPr>
              <a:t>Question /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78231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1E1E"/>
                </a:solidFill>
                <a:latin typeface="Times New Roman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27632" y="4553712"/>
            <a:ext cx="1234440" cy="713232"/>
          </a:xfrm>
          <a:prstGeom prst="round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rgbClr val="FF0000"/>
                </a:solidFill>
                <a:latin typeface="Times New Roman"/>
              </a:rPr>
              <a:t>2. LLM PROCESSING</a:t>
            </a:r>
          </a:p>
          <a:p>
            <a:pPr algn="ctr"/>
            <a:r>
              <a:rPr sz="650" dirty="0">
                <a:solidFill>
                  <a:srgbClr val="FF0000"/>
                </a:solidFill>
                <a:latin typeface="Times New Roman"/>
              </a:rPr>
              <a:t>Generate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478231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1E1E"/>
                </a:solidFill>
                <a:latin typeface="Times New Roma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31820" y="4553712"/>
            <a:ext cx="1234440" cy="713232"/>
          </a:xfrm>
          <a:prstGeom prst="round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rgbClr val="FF0000"/>
                </a:solidFill>
                <a:latin typeface="Times New Roman"/>
              </a:rPr>
              <a:t>3. HALLUCINATION
DETECTION</a:t>
            </a:r>
          </a:p>
          <a:p>
            <a:pPr algn="ctr"/>
            <a:r>
              <a:rPr sz="650" dirty="0">
                <a:solidFill>
                  <a:srgbClr val="FF0000"/>
                </a:solidFill>
                <a:latin typeface="Times New Roman"/>
              </a:rPr>
              <a:t>Check factual 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478231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1E1E"/>
                </a:solidFill>
                <a:latin typeface="Times New Roman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4860" y="4560243"/>
            <a:ext cx="1234440" cy="713232"/>
          </a:xfrm>
          <a:prstGeom prst="round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rgbClr val="FF0000"/>
                </a:solidFill>
                <a:latin typeface="Times New Roman"/>
              </a:rPr>
              <a:t>4. VERIFICATION</a:t>
            </a:r>
          </a:p>
          <a:p>
            <a:pPr algn="ctr"/>
            <a:r>
              <a:rPr sz="650" dirty="0">
                <a:solidFill>
                  <a:srgbClr val="FF0000"/>
                </a:solidFill>
                <a:latin typeface="Times New Roman"/>
              </a:rPr>
              <a:t>Compare with reliable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478231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1E1E"/>
                </a:solidFill>
                <a:latin typeface="Times New Roma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752" y="4553712"/>
            <a:ext cx="1234440" cy="713232"/>
          </a:xfrm>
          <a:prstGeom prst="round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rgbClr val="FF0000"/>
                </a:solidFill>
                <a:latin typeface="Times New Roman"/>
              </a:rPr>
              <a:t>5. MITIGATION</a:t>
            </a:r>
          </a:p>
          <a:p>
            <a:pPr algn="ctr"/>
            <a:r>
              <a:rPr sz="650" dirty="0">
                <a:solidFill>
                  <a:srgbClr val="FF0000"/>
                </a:solidFill>
                <a:latin typeface="Times New Roman"/>
              </a:rPr>
              <a:t>Correct or regenerate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" y="5440680"/>
            <a:ext cx="2057400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REAL-WORLD USE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5824728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Times New Roman"/>
              </a:rPr>
              <a:t>AI Response Verification: An LLM generates an answer, and the system checks it against trusted information to identify unsupported or incorrect claims before presenting the final response.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" y="6510528"/>
            <a:ext cx="2011680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INDUSTRY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6894576"/>
            <a:ext cx="3154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0">
                <a:solidFill>
                  <a:srgbClr val="1E1E1E"/>
                </a:solidFill>
                <a:latin typeface="Times New Roman"/>
              </a:rPr>
              <a:t>• AI chatbots and virtual assistants
• Healthcare information systems
• Education and learning platforms
• Legal and financial AI systems
• Research and information retrieval
• Customer support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6510528"/>
            <a:ext cx="1645920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ADVANTAGES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6894576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0">
                <a:solidFill>
                  <a:srgbClr val="1E1E1E"/>
                </a:solidFill>
                <a:latin typeface="Times New Roman"/>
              </a:rPr>
              <a:t>• Improves response reliability
• Reduces incorrect information
• Increases user trust
• Supports safer AI deployment
• Improves factual accuracy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" y="7882127"/>
            <a:ext cx="2240280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CHALLENGES / LIMITATIONS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8266175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E1E1E"/>
                </a:solidFill>
                <a:latin typeface="Times New Roman"/>
              </a:rPr>
              <a:t>• Difficult to detect subtle hallucinations • verification may require external knowledge sources • detection methods can produce false positives • high computational requirements • outputs may vary for similar prompts.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" y="8887968"/>
            <a:ext cx="2331720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RESPONSIBLE AI &amp;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9272016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1E1E1E"/>
                </a:solidFill>
                <a:latin typeface="Times New Roman"/>
              </a:rPr>
              <a:t>• Verify important AI-generated information using reliable sources.
• Maintain human oversight for high-impact decisions.
• Clearly communicate uncertainty in AI responses.
• Protect data used during verification and processing.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" y="9893808"/>
            <a:ext cx="1600200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FUTURE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102412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1E1E1E"/>
                </a:solidFill>
                <a:latin typeface="Times New Roman"/>
              </a:rPr>
              <a:t>Real-time fact verification, RAG, multimodal detection and improved evaluation techniques.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9893808"/>
            <a:ext cx="1417320" cy="347472"/>
          </a:xfrm>
          <a:prstGeom prst="roundRect">
            <a:avLst/>
          </a:prstGeom>
          <a:solidFill>
            <a:srgbClr val="FFF100"/>
          </a:solidFill>
          <a:ln>
            <a:solidFill>
              <a:srgbClr val="46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141414"/>
                </a:solidFill>
                <a:latin typeface="Times New Roman"/>
              </a:rPr>
              <a:t>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102412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1E1E1E"/>
                </a:solidFill>
                <a:latin typeface="Times New Roman"/>
              </a:rPr>
              <a:t>Detection and mitigation improve the accuracy, reliability and trustworthiness of LLMs.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" y="10497312"/>
            <a:ext cx="71963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1E1E1E"/>
                </a:solidFill>
                <a:latin typeface="Times New Roman"/>
              </a:rPr>
              <a:t>KEY TAKEAWAY: LLM hallucinations should be detected and mitigated to ensure reliable and trustworthy AI responses.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390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Siva Polam</dc:creator>
  <cp:keywords/>
  <dc:description>generated using python-pptx</dc:description>
  <cp:lastModifiedBy>Rama Karthik reddy</cp:lastModifiedBy>
  <cp:revision>2</cp:revision>
  <dcterms:created xsi:type="dcterms:W3CDTF">2013-01-27T09:14:16Z</dcterms:created>
  <dcterms:modified xsi:type="dcterms:W3CDTF">2026-09-02T03:52:59Z</dcterms:modified>
  <cp:category/>
</cp:coreProperties>
</file>